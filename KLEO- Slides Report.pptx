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Arv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551820-163B-4CF1-9C29-FC0414C25D79}">
  <a:tblStyle styleId="{3D551820-163B-4CF1-9C29-FC0414C25D7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Arvo-bold.fntdata"/><Relationship Id="rId23" Type="http://schemas.openxmlformats.org/officeDocument/2006/relationships/font" Target="fonts/Arv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Arvo-boldItalic.fntdata"/><Relationship Id="rId25" Type="http://schemas.openxmlformats.org/officeDocument/2006/relationships/font" Target="fonts/Arv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5bb762c3072f140c_7_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h5bb762c3072f140c_7_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 compares Café Athena with four Pacific Beach competitors using AI search tests on ChatGPT and Claude, website research and public Google business information.</a:t>
            </a:r>
            <a:endParaRPr/>
          </a:p>
        </p:txBody>
      </p:sp>
      <p:sp>
        <p:nvSpPr>
          <p:cNvPr id="60" name="Google Shape;60;h5bb762c3072f140c_7_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5bb762c3072f140c_7_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h5bb762c3072f140c_7_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h5bb762c3072f140c_7_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5bb762c3072f140c_7_3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h5bb762c3072f140c_7_3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Slowly leads at 6 of 10 responses; Café Athena appears in 5 of 10. Café Athena performs better on ChatGPT (3/5) than Claude (2/5). Results cover only the selected queries and platforms.</a:t>
            </a:r>
            <a:endParaRPr/>
          </a:p>
        </p:txBody>
      </p:sp>
      <p:sp>
        <p:nvSpPr>
          <p:cNvPr id="86" name="Google Shape;86;h5bb762c3072f140c_7_3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5bb762c3072f140c_7_6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h5bb762c3072f140c_7_6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h5bb762c3072f140c_7_6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5bb762c3072f140c_7_7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h5bb762c3072f140c_7_7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h5bb762c3072f140c_7_7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5bb762c3072f140c_7_9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h5bb762c3072f140c_7_9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h5bb762c3072f140c_7_9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5bb762c3072f140c_7_9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h5bb762c3072f140c_7_9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 P1 actions from the report. Visibility differs between ChatGPT and Claude, so track both. Impact should be tested after implementation, not assumed.</a:t>
            </a:r>
            <a:endParaRPr/>
          </a:p>
        </p:txBody>
      </p:sp>
      <p:sp>
        <p:nvSpPr>
          <p:cNvPr id="157" name="Google Shape;157;h5bb762c3072f140c_7_9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5bb762c3072f140c_7_11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h5bb762c3072f140c_7_11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h5bb762c3072f140c_7_11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5bb762c3072f140c_7_13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h5bb762c3072f140c_7_13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5bb762c3072f140c_7_13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5bb762c3072f140c_7_15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h5bb762c3072f140c_7_15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h5bb762c3072f140c_7_15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5bb762c3072f140c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h5bb762c3072f140c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5bb762c3072f140c_1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h5bb762c3072f140c_1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5bb762c3072f140c_1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h5bb762c3072f140c_1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h5bb762c3072f140c_1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h5bb762c3072f140c_1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5bb762c3072f140c_1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h5bb762c3072f140c_1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7F4EE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609600" y="872481"/>
            <a:ext cx="7924800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2700"/>
              <a:buFont typeface="Georgia"/>
              <a:buNone/>
              <a:defRPr sz="2700">
                <a:solidFill>
                  <a:srgbClr val="1B2340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609600" y="1478261"/>
            <a:ext cx="7924800" cy="3055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B2340"/>
              </a:buClr>
              <a:buSzPts val="1200"/>
              <a:buNone/>
              <a:defRPr sz="1200">
                <a:solidFill>
                  <a:srgbClr val="1B234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872481"/>
            <a:ext cx="7924800" cy="3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2700"/>
              <a:buFont typeface="Georgia"/>
              <a:buNone/>
              <a:defRPr b="0" i="0" sz="2700" u="none" cap="none" strike="noStrike">
                <a:solidFill>
                  <a:srgbClr val="1B2340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9600" y="1478261"/>
            <a:ext cx="7924800" cy="3055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  <a:buClr>
                <a:srgbClr val="1B23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B234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FA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609600" y="1421160"/>
            <a:ext cx="8162544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0D4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B9C0D4"/>
                </a:solidFill>
                <a:latin typeface="Arvo"/>
                <a:ea typeface="Arvo"/>
                <a:cs typeface="Arvo"/>
                <a:sym typeface="Arvo"/>
              </a:rPr>
              <a:t>VISIBILITY REPORT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609600" y="1798340"/>
            <a:ext cx="8162544" cy="110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ct val="100000"/>
              <a:buFont typeface="Georgia"/>
              <a:buNone/>
            </a:pPr>
            <a:r>
              <a:rPr i="0" lang="en" sz="3900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Café Athena vs. </a:t>
            </a:r>
            <a:br>
              <a:rPr i="0" lang="en" sz="3900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</a:br>
            <a:r>
              <a:rPr i="0" lang="en" sz="3900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Pacific Beach competitors</a:t>
            </a:r>
            <a:endParaRPr sz="3900"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609600" y="3078461"/>
            <a:ext cx="8162544" cy="25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Benchmark: Café Athena, Pacific Beach, San Diego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609600" y="3508970"/>
            <a:ext cx="8162544" cy="232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0D4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B9C0D4"/>
                </a:solidFill>
                <a:latin typeface="Arvo"/>
                <a:ea typeface="Arvo"/>
                <a:cs typeface="Arvo"/>
                <a:sym typeface="Arvo"/>
              </a:rPr>
              <a:t>Competitors: JRDN, Slowly, Spitz and Waterbar. Research date: October 23, 2026.</a:t>
            </a:r>
            <a:endParaRPr i="0" sz="1200" u="none" cap="none" strike="noStrike">
              <a:solidFill>
                <a:srgbClr val="B9C0D4"/>
              </a:solidFill>
              <a:latin typeface="Arvo"/>
              <a:ea typeface="Arvo"/>
              <a:cs typeface="Arvo"/>
              <a:sym typeface="Ar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0D4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B9C0D4"/>
                </a:solidFill>
                <a:latin typeface="Arvo"/>
                <a:ea typeface="Arvo"/>
                <a:cs typeface="Arvo"/>
                <a:sym typeface="Arvo"/>
              </a:rPr>
              <a:t>Group: Clara,Kanokkan, Erica, Wes</a:t>
            </a:r>
            <a:endParaRPr sz="1200">
              <a:solidFill>
                <a:srgbClr val="B9C0D4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609600" y="609600"/>
            <a:ext cx="8162544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4FA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4FA3"/>
                </a:solidFill>
                <a:latin typeface="Arvo"/>
                <a:ea typeface="Arvo"/>
                <a:cs typeface="Arvo"/>
                <a:sym typeface="Arvo"/>
              </a:rPr>
              <a:t>EXECUTIVE SUMMARY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609600" y="872480"/>
            <a:ext cx="8162544" cy="77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ct val="100000"/>
              <a:buFont typeface="Georgia"/>
              <a:buNone/>
            </a:pPr>
            <a:r>
              <a:rPr i="0" lang="en" sz="2700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Café Athena has a solid base in AI recommendations</a:t>
            </a:r>
            <a:endParaRPr sz="2700"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609600" y="3158530"/>
            <a:ext cx="2540000" cy="1222970"/>
          </a:xfrm>
          <a:prstGeom prst="roundRect">
            <a:avLst>
              <a:gd fmla="val 6231" name="adj"/>
            </a:avLst>
          </a:prstGeom>
          <a:solidFill>
            <a:srgbClr val="ECE7D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800100" y="3349030"/>
            <a:ext cx="2223770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50%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800100" y="3630960"/>
            <a:ext cx="2223770" cy="39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Café Athena’s combined mention rate across 10 AI responses.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3302000" y="3158530"/>
            <a:ext cx="2540000" cy="1222970"/>
          </a:xfrm>
          <a:prstGeom prst="roundRect">
            <a:avLst>
              <a:gd fmla="val 6231" name="adj"/>
            </a:avLst>
          </a:prstGeom>
          <a:solidFill>
            <a:srgbClr val="ECE7D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3492500" y="3349030"/>
            <a:ext cx="2223770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2nd of 5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3492500" y="3630960"/>
            <a:ext cx="2223770" cy="57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Slowly leads at 60%. JRDN and Spitz follow at 30% each, Waterbar at 10%.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5994401" y="3158530"/>
            <a:ext cx="2540000" cy="1222970"/>
          </a:xfrm>
          <a:prstGeom prst="roundRect">
            <a:avLst>
              <a:gd fmla="val 6231" name="adj"/>
            </a:avLst>
          </a:prstGeom>
          <a:solidFill>
            <a:srgbClr val="ECE7D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6184901" y="3349030"/>
            <a:ext cx="2223770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3 gaps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6184901" y="3630960"/>
            <a:ext cx="2223770" cy="57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Occasion content, group-event details and consistent third-party listings.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609600" y="4678710"/>
            <a:ext cx="8162544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70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4A5170"/>
                </a:solidFill>
                <a:latin typeface="Arvo"/>
                <a:ea typeface="Arvo"/>
                <a:cs typeface="Arvo"/>
                <a:sym typeface="Arvo"/>
              </a:rPr>
              <a:t>Five queries tested on ChatGPT and Claude, October 23, 2026.</a:t>
            </a:r>
            <a:endParaRPr i="0" sz="9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609600" y="609600"/>
            <a:ext cx="8162544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4FA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4FA3"/>
                </a:solidFill>
                <a:latin typeface="Arvo"/>
                <a:ea typeface="Arvo"/>
                <a:cs typeface="Arvo"/>
                <a:sym typeface="Arvo"/>
              </a:rPr>
              <a:t>AI SEARCH VISIBILITY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609600" y="872480"/>
            <a:ext cx="8534400" cy="39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ct val="100000"/>
              <a:buFont typeface="Georgia"/>
              <a:buNone/>
            </a:pPr>
            <a:r>
              <a:rPr i="0" lang="en" sz="2700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Café Athena ranks second in AI restaurant mentions</a:t>
            </a:r>
            <a:endParaRPr sz="2700"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609600" y="2234606"/>
            <a:ext cx="990600" cy="232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Slowly</a:t>
            </a:r>
            <a:endParaRPr i="0" sz="12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1676400" y="2188865"/>
            <a:ext cx="3429000" cy="304800"/>
          </a:xfrm>
          <a:prstGeom prst="roundRect">
            <a:avLst>
              <a:gd fmla="val 12500" name="adj"/>
            </a:avLst>
          </a:prstGeom>
          <a:solidFill>
            <a:srgbClr val="B9C0D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5219700" y="2221260"/>
            <a:ext cx="411837" cy="25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60%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609600" y="2672756"/>
            <a:ext cx="990600" cy="232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Café Athena</a:t>
            </a:r>
            <a:endParaRPr i="0" sz="12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1676400" y="2627015"/>
            <a:ext cx="2857500" cy="304800"/>
          </a:xfrm>
          <a:prstGeom prst="roundRect">
            <a:avLst>
              <a:gd fmla="val 12500" name="adj"/>
            </a:avLst>
          </a:prstGeom>
          <a:solidFill>
            <a:srgbClr val="1E4FA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4648200" y="2659410"/>
            <a:ext cx="411837" cy="25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50%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609600" y="3110906"/>
            <a:ext cx="990600" cy="232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JRDN</a:t>
            </a:r>
            <a:endParaRPr i="0" sz="12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1676400" y="3065165"/>
            <a:ext cx="1714500" cy="304800"/>
          </a:xfrm>
          <a:prstGeom prst="roundRect">
            <a:avLst>
              <a:gd fmla="val 12500" name="adj"/>
            </a:avLst>
          </a:prstGeom>
          <a:solidFill>
            <a:srgbClr val="B9C0D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3505200" y="3097560"/>
            <a:ext cx="411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30%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609600" y="3549056"/>
            <a:ext cx="990600" cy="232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Spitz</a:t>
            </a:r>
            <a:endParaRPr i="0" sz="12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1676400" y="3503315"/>
            <a:ext cx="1714500" cy="304800"/>
          </a:xfrm>
          <a:prstGeom prst="roundRect">
            <a:avLst>
              <a:gd fmla="val 12500" name="adj"/>
            </a:avLst>
          </a:prstGeom>
          <a:solidFill>
            <a:srgbClr val="B9C0D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3505200" y="3535710"/>
            <a:ext cx="411837" cy="259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30%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609600" y="3987206"/>
            <a:ext cx="990600" cy="232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Waterbar</a:t>
            </a:r>
            <a:endParaRPr i="0" sz="12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1676400" y="3941465"/>
            <a:ext cx="571500" cy="304800"/>
          </a:xfrm>
          <a:prstGeom prst="roundRect">
            <a:avLst>
              <a:gd fmla="val 12500" name="adj"/>
            </a:avLst>
          </a:prstGeom>
          <a:solidFill>
            <a:srgbClr val="B9C0D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2362200" y="3973860"/>
            <a:ext cx="411837" cy="259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10%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6629400" y="2053675"/>
            <a:ext cx="2054700" cy="2327700"/>
          </a:xfrm>
          <a:prstGeom prst="roundRect">
            <a:avLst>
              <a:gd fmla="val 4000" name="adj"/>
            </a:avLst>
          </a:prstGeom>
          <a:solidFill>
            <a:srgbClr val="1B23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6858000" y="2282279"/>
            <a:ext cx="1676400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Café Athena by platform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6858000" y="2545160"/>
            <a:ext cx="1491234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ts val="3600"/>
              <a:buFont typeface="Georgia"/>
              <a:buNone/>
            </a:pPr>
            <a:r>
              <a:rPr i="0" lang="en" sz="3600" u="none" cap="none" strike="noStrike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60%</a:t>
            </a:r>
            <a:endParaRPr i="0" sz="36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858000" y="3124250"/>
            <a:ext cx="1491234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0D4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B9C0D4"/>
                </a:solidFill>
                <a:latin typeface="Arvo"/>
                <a:ea typeface="Arvo"/>
                <a:cs typeface="Arvo"/>
                <a:sym typeface="Arvo"/>
              </a:rPr>
              <a:t>ChatGPT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6858000" y="3387130"/>
            <a:ext cx="1491234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ts val="3600"/>
              <a:buFont typeface="Georgia"/>
              <a:buNone/>
            </a:pPr>
            <a:r>
              <a:rPr i="0" lang="en" sz="3600" u="none" cap="none" strike="noStrike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40%</a:t>
            </a:r>
            <a:endParaRPr i="0" sz="36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6858000" y="3966221"/>
            <a:ext cx="1491234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0D4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B9C0D4"/>
                </a:solidFill>
                <a:latin typeface="Arvo"/>
                <a:ea typeface="Arvo"/>
                <a:cs typeface="Arvo"/>
                <a:sym typeface="Arvo"/>
              </a:rPr>
              <a:t>Claude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609600" y="4678710"/>
            <a:ext cx="8162544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70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4A5170"/>
                </a:solidFill>
                <a:latin typeface="Arvo"/>
                <a:ea typeface="Arvo"/>
                <a:cs typeface="Arvo"/>
                <a:sym typeface="Arvo"/>
              </a:rPr>
              <a:t>Combined mention rate across 5 queries on ChatGPT and Claude, 10 responses. Tested October 23, 2026.</a:t>
            </a:r>
            <a:endParaRPr i="0" sz="9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/>
          <p:nvPr/>
        </p:nvSpPr>
        <p:spPr>
          <a:xfrm>
            <a:off x="609600" y="609600"/>
            <a:ext cx="8162544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4FA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4FA3"/>
                </a:solidFill>
                <a:latin typeface="Arvo"/>
                <a:ea typeface="Arvo"/>
                <a:cs typeface="Arvo"/>
                <a:sym typeface="Arvo"/>
              </a:rPr>
              <a:t>SHARE OF VOICE AND RANK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18" name="Google Shape;118;p19"/>
          <p:cNvSpPr txBox="1"/>
          <p:nvPr>
            <p:ph type="title"/>
          </p:nvPr>
        </p:nvSpPr>
        <p:spPr>
          <a:xfrm>
            <a:off x="609600" y="872480"/>
            <a:ext cx="8162544" cy="39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ct val="100000"/>
              <a:buFont typeface="Georgia"/>
              <a:buNone/>
            </a:pPr>
            <a:r>
              <a:rPr i="0" lang="en" sz="2700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Slowly holds the largest share of voice</a:t>
            </a:r>
            <a:endParaRPr sz="2700">
              <a:latin typeface="Arvo"/>
              <a:ea typeface="Arvo"/>
              <a:cs typeface="Arvo"/>
              <a:sym typeface="Arvo"/>
            </a:endParaRPr>
          </a:p>
        </p:txBody>
      </p:sp>
      <p:graphicFrame>
        <p:nvGraphicFramePr>
          <p:cNvPr id="119" name="Google Shape;119;p19"/>
          <p:cNvGraphicFramePr/>
          <p:nvPr/>
        </p:nvGraphicFramePr>
        <p:xfrm>
          <a:off x="619125" y="24044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{3D551820-163B-4CF1-9C29-FC0414C25D79}</a:tableStyleId>
              </a:tblPr>
              <a:tblGrid>
                <a:gridCol w="1838325"/>
                <a:gridCol w="1838325"/>
                <a:gridCol w="1838325"/>
              </a:tblGrid>
              <a:tr h="32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4EE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7F4EE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Restaurant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4EE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7F4EE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Mentions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4EE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7F4EE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Share of voice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40"/>
                    </a:solidFill>
                  </a:tcPr>
                </a:tc>
              </a:tr>
              <a:tr h="32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Slowly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6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33.3%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Café Athena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5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27.8%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JRDN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3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16.7%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Spitz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3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16.7%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Waterbar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1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5.6%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" name="Google Shape;120;p19"/>
          <p:cNvSpPr/>
          <p:nvPr/>
        </p:nvSpPr>
        <p:spPr>
          <a:xfrm>
            <a:off x="6438900" y="2670077"/>
            <a:ext cx="2095500" cy="1436241"/>
          </a:xfrm>
          <a:prstGeom prst="roundRect">
            <a:avLst>
              <a:gd fmla="val 5306" name="adj"/>
            </a:avLst>
          </a:prstGeom>
          <a:solidFill>
            <a:srgbClr val="1E4FA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6667500" y="2898677"/>
            <a:ext cx="1687449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Café Athena rank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6667500" y="3161556"/>
            <a:ext cx="1687449" cy="445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ChatGPT: #1 in all three ranked lists</a:t>
            </a:r>
            <a:endParaRPr i="0" sz="12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6667500" y="3664397"/>
            <a:ext cx="1687449" cy="232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Claude: #1 and #3</a:t>
            </a:r>
            <a:endParaRPr i="0" sz="12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609600" y="4678710"/>
            <a:ext cx="8162544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70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4A5170"/>
                </a:solidFill>
                <a:latin typeface="Arvo"/>
                <a:ea typeface="Arvo"/>
                <a:cs typeface="Arvo"/>
                <a:sym typeface="Arvo"/>
              </a:rPr>
              <a:t>Share is among the five selected restaurants, based on 18 confirmed mentions. Unranked searches excluded.</a:t>
            </a:r>
            <a:endParaRPr i="0" sz="9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34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>
            <a:off x="609600" y="609600"/>
            <a:ext cx="8162544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0D4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B9C0D4"/>
                </a:solidFill>
                <a:latin typeface="Arvo"/>
                <a:ea typeface="Arvo"/>
                <a:cs typeface="Arvo"/>
                <a:sym typeface="Arvo"/>
              </a:rPr>
              <a:t>COMPETITOR GAP ANALYSIS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31" name="Google Shape;131;p20"/>
          <p:cNvSpPr txBox="1"/>
          <p:nvPr>
            <p:ph type="title"/>
          </p:nvPr>
        </p:nvSpPr>
        <p:spPr>
          <a:xfrm>
            <a:off x="609600" y="872482"/>
            <a:ext cx="8162544" cy="39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ct val="100000"/>
              <a:buFont typeface="Georgia"/>
              <a:buNone/>
            </a:pPr>
            <a:r>
              <a:rPr i="0" lang="en" sz="2700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Competitors win by being specific</a:t>
            </a:r>
            <a:endParaRPr sz="2700"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609600" y="2156519"/>
            <a:ext cx="3886200" cy="1036290"/>
          </a:xfrm>
          <a:prstGeom prst="roundRect">
            <a:avLst>
              <a:gd fmla="val 7353" name="adj"/>
            </a:avLst>
          </a:prstGeom>
          <a:solidFill>
            <a:srgbClr val="F7F4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800100" y="2347019"/>
            <a:ext cx="3610356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JRDN: occasions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800100" y="2628951"/>
            <a:ext cx="3610356" cy="39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Oceanfront and celebration content, with published event capacity of 15–150 guests.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4648200" y="2156519"/>
            <a:ext cx="3886200" cy="1036290"/>
          </a:xfrm>
          <a:prstGeom prst="roundRect">
            <a:avLst>
              <a:gd fmla="val 7353" name="adj"/>
            </a:avLst>
          </a:prstGeom>
          <a:solidFill>
            <a:srgbClr val="F7F4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4838700" y="2347019"/>
            <a:ext cx="3610356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Slowly: detail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4838700" y="2628951"/>
            <a:ext cx="3610356" cy="392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Date-night specials, Aperitivo, FAQs and private dining by group size.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609600" y="3345210"/>
            <a:ext cx="3886200" cy="1036290"/>
          </a:xfrm>
          <a:prstGeom prst="roundRect">
            <a:avLst>
              <a:gd fmla="val 7353" name="adj"/>
            </a:avLst>
          </a:prstGeom>
          <a:solidFill>
            <a:srgbClr val="F7F4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800100" y="3535710"/>
            <a:ext cx="3610356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Spitz: local SEO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800100" y="3817642"/>
            <a:ext cx="3610356" cy="39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A dedicated Pacific Beach page with hours, ordering, catering and amenities.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4648200" y="3345210"/>
            <a:ext cx="3886200" cy="1036290"/>
          </a:xfrm>
          <a:prstGeom prst="roundRect">
            <a:avLst>
              <a:gd fmla="val 7353" name="adj"/>
            </a:avLst>
          </a:prstGeom>
          <a:solidFill>
            <a:srgbClr val="F7F4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4838700" y="3535710"/>
            <a:ext cx="3610356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Waterbar: experience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4838700" y="3817642"/>
            <a:ext cx="3610356" cy="39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Beachfront views, seafood, cocktails and prominent happy-hour messaging.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609600" y="4678710"/>
            <a:ext cx="8162544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0D4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B9C0D4"/>
                </a:solidFill>
                <a:latin typeface="Arvo"/>
                <a:ea typeface="Arvo"/>
                <a:cs typeface="Arvo"/>
                <a:sym typeface="Arvo"/>
              </a:rPr>
              <a:t>These are possible advantages. The report does not show they caused the AI results.</a:t>
            </a:r>
            <a:endParaRPr i="0" sz="9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/>
          <p:nvPr/>
        </p:nvSpPr>
        <p:spPr>
          <a:xfrm>
            <a:off x="609600" y="609600"/>
            <a:ext cx="8162544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4FA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4FA3"/>
                </a:solidFill>
                <a:latin typeface="Arvo"/>
                <a:ea typeface="Arvo"/>
                <a:cs typeface="Arvo"/>
                <a:sym typeface="Arvo"/>
              </a:rPr>
              <a:t>GOOGLE BUSINESS PROFILE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51" name="Google Shape;151;p21"/>
          <p:cNvSpPr txBox="1"/>
          <p:nvPr>
            <p:ph type="title"/>
          </p:nvPr>
        </p:nvSpPr>
        <p:spPr>
          <a:xfrm>
            <a:off x="609600" y="872482"/>
            <a:ext cx="8162544" cy="39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ct val="100000"/>
              <a:buFont typeface="Georgia"/>
              <a:buNone/>
            </a:pPr>
            <a:r>
              <a:rPr i="0" lang="en" sz="2700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Review volume does not predict AI mentions</a:t>
            </a:r>
            <a:endParaRPr sz="2700">
              <a:latin typeface="Arvo"/>
              <a:ea typeface="Arvo"/>
              <a:cs typeface="Arvo"/>
              <a:sym typeface="Arvo"/>
            </a:endParaRPr>
          </a:p>
        </p:txBody>
      </p:sp>
      <p:graphicFrame>
        <p:nvGraphicFramePr>
          <p:cNvPr id="152" name="Google Shape;152;p21"/>
          <p:cNvGraphicFramePr/>
          <p:nvPr/>
        </p:nvGraphicFramePr>
        <p:xfrm>
          <a:off x="619125" y="24044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{3D551820-163B-4CF1-9C29-FC0414C25D79}</a:tableStyleId>
              </a:tblPr>
              <a:tblGrid>
                <a:gridCol w="1978800"/>
                <a:gridCol w="1978800"/>
                <a:gridCol w="1978800"/>
                <a:gridCol w="1978800"/>
              </a:tblGrid>
              <a:tr h="32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4EE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7F4EE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Restaurant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4EE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7F4EE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Rating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4EE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7F4EE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Reviews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4EE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7F4EE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Category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40"/>
                    </a:solidFill>
                  </a:tcPr>
                </a:tc>
              </a:tr>
              <a:tr h="32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Café Athena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4.6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545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Mediterranean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9203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JRDN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4.4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~1,600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Seafood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Slowly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4.5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126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Mediterranean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Spitz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4.9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412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Mediterranean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Waterbar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4.3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2,515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34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1B2340"/>
                          </a:solidFill>
                          <a:latin typeface="Arvo"/>
                          <a:ea typeface="Arvo"/>
                          <a:cs typeface="Arvo"/>
                          <a:sym typeface="Arvo"/>
                        </a:rPr>
                        <a:t>American</a:t>
                      </a:r>
                      <a:endParaRPr sz="1200" u="none" cap="none" strike="noStrike">
                        <a:latin typeface="Arvo"/>
                        <a:ea typeface="Arvo"/>
                        <a:cs typeface="Arvo"/>
                        <a:sym typeface="Arv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3B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p21"/>
          <p:cNvSpPr/>
          <p:nvPr/>
        </p:nvSpPr>
        <p:spPr>
          <a:xfrm>
            <a:off x="609600" y="4678710"/>
            <a:ext cx="8162544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70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4A5170"/>
                </a:solidFill>
                <a:latin typeface="Arvo"/>
                <a:ea typeface="Arvo"/>
                <a:cs typeface="Arvo"/>
                <a:sym typeface="Arvo"/>
              </a:rPr>
              <a:t>Waterbar has 2,515 reviews but the lowest mention rate (10%). Snapshot dates may differ; verify before citing.</a:t>
            </a:r>
            <a:endParaRPr i="0" sz="9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34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/>
          <p:nvPr/>
        </p:nvSpPr>
        <p:spPr>
          <a:xfrm>
            <a:off x="609600" y="609600"/>
            <a:ext cx="8162544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0D4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B9C0D4"/>
                </a:solidFill>
                <a:latin typeface="Arvo"/>
                <a:ea typeface="Arvo"/>
                <a:cs typeface="Arvo"/>
                <a:sym typeface="Arvo"/>
              </a:rPr>
              <a:t>PRIORITY ACTIONS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60" name="Google Shape;160;p22"/>
          <p:cNvSpPr txBox="1"/>
          <p:nvPr>
            <p:ph type="title"/>
          </p:nvPr>
        </p:nvSpPr>
        <p:spPr>
          <a:xfrm>
            <a:off x="609600" y="872482"/>
            <a:ext cx="8162544" cy="39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ct val="100000"/>
              <a:buFont typeface="Georgia"/>
              <a:buNone/>
            </a:pPr>
            <a:r>
              <a:rPr i="0" lang="en" sz="2700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Three steps to win more AI recommendations</a:t>
            </a:r>
            <a:endParaRPr sz="2700"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609600" y="2373711"/>
            <a:ext cx="2540000" cy="2007791"/>
          </a:xfrm>
          <a:prstGeom prst="roundRect">
            <a:avLst>
              <a:gd fmla="val 3795" name="adj"/>
            </a:avLst>
          </a:prstGeom>
          <a:solidFill>
            <a:srgbClr val="F7F4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800100" y="2564211"/>
            <a:ext cx="222377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4FA3"/>
              </a:buClr>
              <a:buSzPts val="3600"/>
              <a:buFont typeface="Georgia"/>
              <a:buNone/>
            </a:pPr>
            <a:r>
              <a:rPr i="0" lang="en" sz="3600" u="none" cap="none" strike="noStrike">
                <a:solidFill>
                  <a:srgbClr val="1E4FA3"/>
                </a:solidFill>
                <a:latin typeface="Arvo"/>
                <a:ea typeface="Arvo"/>
                <a:cs typeface="Arvo"/>
                <a:sym typeface="Arvo"/>
              </a:rPr>
              <a:t>1</a:t>
            </a:r>
            <a:endParaRPr i="0" sz="36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800100" y="3143301"/>
            <a:ext cx="2223770" cy="430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Detail group dining and events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800100" y="3630960"/>
            <a:ext cx="2223770" cy="57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Publish capacity, group menus and celebration packages, as JRDN and Slowly already do.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3302000" y="2373711"/>
            <a:ext cx="2540100" cy="2007900"/>
          </a:xfrm>
          <a:prstGeom prst="roundRect">
            <a:avLst>
              <a:gd fmla="val 3795" name="adj"/>
            </a:avLst>
          </a:prstGeom>
          <a:solidFill>
            <a:srgbClr val="F7F4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3492500" y="2564211"/>
            <a:ext cx="222377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4FA3"/>
              </a:buClr>
              <a:buSzPts val="3600"/>
              <a:buFont typeface="Georgia"/>
              <a:buNone/>
            </a:pPr>
            <a:r>
              <a:rPr i="0" lang="en" sz="3600" u="none" cap="none" strike="noStrike">
                <a:solidFill>
                  <a:srgbClr val="1E4FA3"/>
                </a:solidFill>
                <a:latin typeface="Arvo"/>
                <a:ea typeface="Arvo"/>
                <a:cs typeface="Arvo"/>
                <a:sym typeface="Arvo"/>
              </a:rPr>
              <a:t>2</a:t>
            </a:r>
            <a:endParaRPr i="0" sz="36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3492500" y="3143301"/>
            <a:ext cx="2349500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Write for dining occasions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3492500" y="3670156"/>
            <a:ext cx="22239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Add date night, happy hour and group dinner content. Slowly leads the test at 60%.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5994401" y="2373711"/>
            <a:ext cx="2540000" cy="2007791"/>
          </a:xfrm>
          <a:prstGeom prst="roundRect">
            <a:avLst>
              <a:gd fmla="val 3795" name="adj"/>
            </a:avLst>
          </a:prstGeom>
          <a:solidFill>
            <a:srgbClr val="F7F4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6184901" y="2564211"/>
            <a:ext cx="2223770" cy="52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4FA3"/>
              </a:buClr>
              <a:buSzPts val="3600"/>
              <a:buFont typeface="Georgia"/>
              <a:buNone/>
            </a:pPr>
            <a:r>
              <a:rPr i="0" lang="en" sz="3600" u="none" cap="none" strike="noStrike">
                <a:solidFill>
                  <a:srgbClr val="1E4FA3"/>
                </a:solidFill>
                <a:latin typeface="Arvo"/>
                <a:ea typeface="Arvo"/>
                <a:cs typeface="Arvo"/>
                <a:sym typeface="Arvo"/>
              </a:rPr>
              <a:t>3</a:t>
            </a:r>
            <a:endParaRPr i="0" sz="36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6184901" y="3143301"/>
            <a:ext cx="2223770" cy="430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Measure on a regular schedule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6184901" y="3630960"/>
            <a:ext cx="2223770" cy="57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Repeat the same five queries and track mention rate, rank and share-of-voice.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609600" y="4678710"/>
            <a:ext cx="8162544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0D4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B9C0D4"/>
                </a:solidFill>
                <a:latin typeface="Arvo"/>
                <a:ea typeface="Arvo"/>
                <a:cs typeface="Arvo"/>
                <a:sym typeface="Arvo"/>
              </a:rPr>
              <a:t>Source: Café Athena AI Search Visibility Report, P1 actions.</a:t>
            </a:r>
            <a:endParaRPr i="0" sz="9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/>
          <p:nvPr/>
        </p:nvSpPr>
        <p:spPr>
          <a:xfrm>
            <a:off x="609600" y="609600"/>
            <a:ext cx="8162544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4FA3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E4FA3"/>
                </a:solidFill>
                <a:latin typeface="Arvo"/>
                <a:ea typeface="Arvo"/>
                <a:cs typeface="Arvo"/>
                <a:sym typeface="Arvo"/>
              </a:rPr>
              <a:t>OPTIMIZATION ARTIFACTS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80" name="Google Shape;180;p23"/>
          <p:cNvSpPr txBox="1"/>
          <p:nvPr>
            <p:ph type="title"/>
          </p:nvPr>
        </p:nvSpPr>
        <p:spPr>
          <a:xfrm>
            <a:off x="609600" y="872482"/>
            <a:ext cx="8162544" cy="39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ct val="100000"/>
              <a:buFont typeface="Georgia"/>
              <a:buNone/>
            </a:pPr>
            <a:r>
              <a:rPr i="0" lang="en" sz="2700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Ready-to-use content for Café Athena</a:t>
            </a:r>
            <a:endParaRPr sz="2700"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609600" y="2971851"/>
            <a:ext cx="2540000" cy="1409650"/>
          </a:xfrm>
          <a:prstGeom prst="roundRect">
            <a:avLst>
              <a:gd fmla="val 5406" name="adj"/>
            </a:avLst>
          </a:prstGeom>
          <a:solidFill>
            <a:srgbClr val="ECE7D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800100" y="3162351"/>
            <a:ext cx="2223770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Website copy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800100" y="3444283"/>
            <a:ext cx="2223770" cy="76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A page on Greek and Mediterranean dining in Pacific Beach, covering lunch, dinner and group celebrations.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3302000" y="2971851"/>
            <a:ext cx="2540000" cy="1409650"/>
          </a:xfrm>
          <a:prstGeom prst="roundRect">
            <a:avLst>
              <a:gd fmla="val 5406" name="adj"/>
            </a:avLst>
          </a:prstGeom>
          <a:solidFill>
            <a:srgbClr val="ECE7D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3492500" y="3162351"/>
            <a:ext cx="2223770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FAQ content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3492500" y="3444283"/>
            <a:ext cx="2223770" cy="57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Five answers: cuisine, vegetarian, gluten-free, happy hour and group celebrations.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5994401" y="2971851"/>
            <a:ext cx="2540000" cy="1409650"/>
          </a:xfrm>
          <a:prstGeom prst="roundRect">
            <a:avLst>
              <a:gd fmla="val 5406" name="adj"/>
            </a:avLst>
          </a:prstGeom>
          <a:solidFill>
            <a:srgbClr val="ECE7D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6184901" y="3162351"/>
            <a:ext cx="2223770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Structured data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6184901" y="3444283"/>
            <a:ext cx="2223770" cy="57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Restaurant JSON-LD with verified name, address, phone, hours and menu URL.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609600" y="4678710"/>
            <a:ext cx="8162544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170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4A5170"/>
                </a:solidFill>
                <a:latin typeface="Arvo"/>
                <a:ea typeface="Arvo"/>
                <a:cs typeface="Arvo"/>
                <a:sym typeface="Arvo"/>
              </a:rPr>
              <a:t>Check dietary and event details with the restaurant, and validate markup before publishing.</a:t>
            </a:r>
            <a:endParaRPr i="0" sz="9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34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/>
          <p:nvPr/>
        </p:nvSpPr>
        <p:spPr>
          <a:xfrm>
            <a:off x="609600" y="609600"/>
            <a:ext cx="8162544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0D4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B9C0D4"/>
                </a:solidFill>
                <a:latin typeface="Arvo"/>
                <a:ea typeface="Arvo"/>
                <a:cs typeface="Arvo"/>
                <a:sym typeface="Arvo"/>
              </a:rPr>
              <a:t>IMPLEMENTATION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97" name="Google Shape;197;p24"/>
          <p:cNvSpPr txBox="1"/>
          <p:nvPr>
            <p:ph type="title"/>
          </p:nvPr>
        </p:nvSpPr>
        <p:spPr>
          <a:xfrm>
            <a:off x="609600" y="872482"/>
            <a:ext cx="8162544" cy="39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ct val="100000"/>
              <a:buFont typeface="Georgia"/>
              <a:buNone/>
            </a:pPr>
            <a:r>
              <a:rPr i="0" lang="en" sz="2700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Four weeks from audit to re-test</a:t>
            </a:r>
            <a:endParaRPr sz="2700"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609600" y="3158533"/>
            <a:ext cx="1866900" cy="1222970"/>
          </a:xfrm>
          <a:prstGeom prst="roundRect">
            <a:avLst>
              <a:gd fmla="val 6231" name="adj"/>
            </a:avLst>
          </a:prstGeom>
          <a:solidFill>
            <a:srgbClr val="F7F4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800100" y="3349033"/>
            <a:ext cx="1530477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Week 1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800100" y="3630960"/>
            <a:ext cx="1530477" cy="39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Complete the baseline and third-party audit.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2628900" y="3158533"/>
            <a:ext cx="1866900" cy="1222970"/>
          </a:xfrm>
          <a:prstGeom prst="roundRect">
            <a:avLst>
              <a:gd fmla="val 6231" name="adj"/>
            </a:avLst>
          </a:prstGeom>
          <a:solidFill>
            <a:srgbClr val="F7F4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2819400" y="3349033"/>
            <a:ext cx="1530477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Week 2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2819400" y="3630960"/>
            <a:ext cx="1530477" cy="39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Improve website descriptions and FAQs.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4648200" y="3158533"/>
            <a:ext cx="1866900" cy="1222970"/>
          </a:xfrm>
          <a:prstGeom prst="roundRect">
            <a:avLst>
              <a:gd fmla="val 6231" name="adj"/>
            </a:avLst>
          </a:prstGeom>
          <a:solidFill>
            <a:srgbClr val="F7F4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4838700" y="3349033"/>
            <a:ext cx="1530477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Week 3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4838700" y="3630960"/>
            <a:ext cx="1530477" cy="392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Update listings and review technical SEO.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6667500" y="3158533"/>
            <a:ext cx="1866900" cy="1222970"/>
          </a:xfrm>
          <a:prstGeom prst="roundRect">
            <a:avLst>
              <a:gd fmla="val 6231" name="adj"/>
            </a:avLst>
          </a:prstGeom>
          <a:solidFill>
            <a:srgbClr val="F7F4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6858000" y="3349033"/>
            <a:ext cx="1530477" cy="2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Week 4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6858000" y="3630960"/>
            <a:ext cx="1530477" cy="57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i="0" lang="en" sz="1100" u="none" cap="none" strike="noStrike">
                <a:solidFill>
                  <a:srgbClr val="1B2340"/>
                </a:solidFill>
                <a:latin typeface="Arvo"/>
                <a:ea typeface="Arvo"/>
                <a:cs typeface="Arvo"/>
                <a:sym typeface="Arvo"/>
              </a:rPr>
              <a:t>Repeat the original queries for a before-and-after scorecard.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609600" y="4678710"/>
            <a:ext cx="8162544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0D4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B9C0D4"/>
                </a:solidFill>
                <a:latin typeface="Arvo"/>
                <a:ea typeface="Arvo"/>
                <a:cs typeface="Arvo"/>
                <a:sym typeface="Arvo"/>
              </a:rPr>
              <a:t>Use the same queries, platforms and criteria. Measure mention rate, rank and share of voice.</a:t>
            </a:r>
            <a:endParaRPr i="0" sz="9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FA3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/>
          <p:nvPr/>
        </p:nvSpPr>
        <p:spPr>
          <a:xfrm>
            <a:off x="609600" y="609600"/>
            <a:ext cx="8162544" cy="20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CONCLUSION</a:t>
            </a:r>
            <a:endParaRPr i="0" sz="11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17" name="Google Shape;217;p25"/>
          <p:cNvSpPr txBox="1"/>
          <p:nvPr>
            <p:ph type="title"/>
          </p:nvPr>
        </p:nvSpPr>
        <p:spPr>
          <a:xfrm>
            <a:off x="609600" y="872482"/>
            <a:ext cx="8162544" cy="39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ct val="100000"/>
              <a:buFont typeface="Georgia"/>
              <a:buNone/>
            </a:pPr>
            <a:r>
              <a:rPr i="0" lang="en" sz="2700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Café Athena’s strengths need to be easier to find</a:t>
            </a:r>
            <a:endParaRPr sz="2700"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609600" y="3394769"/>
            <a:ext cx="8162544" cy="259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Slowly leads at 60% and Café Athena follows at 50%.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609600" y="3768133"/>
            <a:ext cx="8162544" cy="259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The main gap is how clearly services are communicated, not what is offered.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609600" y="4141492"/>
            <a:ext cx="8162544" cy="259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Re-test with the same queries before claiming results.</a:t>
            </a:r>
            <a:endParaRPr i="0" sz="14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609600" y="4678710"/>
            <a:ext cx="8162544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4EE"/>
              </a:buClr>
              <a:buSzPts val="900"/>
              <a:buFont typeface="Arial"/>
              <a:buNone/>
            </a:pPr>
            <a:r>
              <a:rPr i="0" lang="en" sz="900" u="none" cap="none" strike="noStrike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Findings are limited to the selected queries, platforms and public evidence.</a:t>
            </a:r>
            <a:endParaRPr i="0" sz="900" u="none" cap="none" strike="noStrike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036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type="title"/>
          </p:nvPr>
        </p:nvSpPr>
        <p:spPr>
          <a:xfrm>
            <a:off x="573550" y="344381"/>
            <a:ext cx="79248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rPr>
              <a:t>How </a:t>
            </a:r>
            <a:r>
              <a:rPr b="1" lang="en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rPr>
              <a:t>KLEOS</a:t>
            </a:r>
            <a:r>
              <a:rPr lang="en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rPr>
              <a:t> helps.</a:t>
            </a:r>
            <a:endParaRPr>
              <a:solidFill>
                <a:schemeClr val="lt1"/>
              </a:solidFill>
              <a:latin typeface="Arvo"/>
              <a:ea typeface="Arvo"/>
              <a:cs typeface="Arvo"/>
              <a:sym typeface="Arvo"/>
            </a:endParaRPr>
          </a:p>
        </p:txBody>
      </p:sp>
      <p:pic>
        <p:nvPicPr>
          <p:cNvPr id="227" name="Google Shape;2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634" y="1005601"/>
            <a:ext cx="5945948" cy="331267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6"/>
          <p:cNvSpPr/>
          <p:nvPr/>
        </p:nvSpPr>
        <p:spPr>
          <a:xfrm>
            <a:off x="6547125" y="2188808"/>
            <a:ext cx="22239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KLEO generates a complete AISO report, and spots the problem</a:t>
            </a:r>
            <a:endParaRPr sz="1100">
              <a:solidFill>
                <a:srgbClr val="F7F4EE"/>
              </a:solidFill>
              <a:latin typeface="Arvo"/>
              <a:ea typeface="Arvo"/>
              <a:cs typeface="Arvo"/>
              <a:sym typeface="Ar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E.g not showing up on date night searches</a:t>
            </a:r>
            <a:endParaRPr sz="1100">
              <a:solidFill>
                <a:srgbClr val="F7F4EE"/>
              </a:solidFill>
              <a:latin typeface="Arvo"/>
              <a:ea typeface="Arvo"/>
              <a:cs typeface="Arvo"/>
              <a:sym typeface="Ar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7F4EE"/>
              </a:solidFill>
              <a:latin typeface="Arvo"/>
              <a:ea typeface="Arvo"/>
              <a:cs typeface="Arvo"/>
              <a:sym typeface="Arvo"/>
            </a:endParaRPr>
          </a:p>
        </p:txBody>
      </p:sp>
      <p:sp>
        <p:nvSpPr>
          <p:cNvPr id="229" name="Google Shape;229;p26"/>
          <p:cNvSpPr/>
          <p:nvPr/>
        </p:nvSpPr>
        <p:spPr>
          <a:xfrm>
            <a:off x="4725134" y="3377975"/>
            <a:ext cx="1378200" cy="495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4FA3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>
            <p:ph type="title"/>
          </p:nvPr>
        </p:nvSpPr>
        <p:spPr>
          <a:xfrm>
            <a:off x="609600" y="332006"/>
            <a:ext cx="79248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KLEOS</a:t>
            </a:r>
            <a:r>
              <a:rPr lang="en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 Spots the problem &amp; </a:t>
            </a:r>
            <a:r>
              <a:rPr lang="en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recommends</a:t>
            </a:r>
            <a:r>
              <a:rPr lang="en">
                <a:solidFill>
                  <a:srgbClr val="F7F4EE"/>
                </a:solidFill>
                <a:latin typeface="Arvo"/>
                <a:ea typeface="Arvo"/>
                <a:cs typeface="Arvo"/>
                <a:sym typeface="Arvo"/>
              </a:rPr>
              <a:t> a fix</a:t>
            </a:r>
            <a:endParaRPr>
              <a:solidFill>
                <a:srgbClr val="F7F4EE"/>
              </a:solidFill>
              <a:latin typeface="Arvo"/>
              <a:ea typeface="Arvo"/>
              <a:cs typeface="Arvo"/>
              <a:sym typeface="Ar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650" y="960600"/>
            <a:ext cx="6568699" cy="381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>
            <p:ph type="title"/>
          </p:nvPr>
        </p:nvSpPr>
        <p:spPr>
          <a:xfrm>
            <a:off x="978900" y="214906"/>
            <a:ext cx="79248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rvo"/>
                <a:ea typeface="Arvo"/>
                <a:cs typeface="Arvo"/>
                <a:sym typeface="Arvo"/>
              </a:rPr>
              <a:t>KLEOS</a:t>
            </a:r>
            <a:r>
              <a:rPr lang="en">
                <a:latin typeface="Arvo"/>
                <a:ea typeface="Arvo"/>
                <a:cs typeface="Arvo"/>
                <a:sym typeface="Arvo"/>
              </a:rPr>
              <a:t> suggests to add copy to landing page</a:t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pic>
        <p:nvPicPr>
          <p:cNvPr id="241" name="Google Shape;24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4463" y="682031"/>
            <a:ext cx="4914636" cy="425571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8"/>
          <p:cNvSpPr/>
          <p:nvPr/>
        </p:nvSpPr>
        <p:spPr>
          <a:xfrm>
            <a:off x="6966250" y="2188800"/>
            <a:ext cx="1438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Arvo"/>
                <a:ea typeface="Arvo"/>
                <a:cs typeface="Arvo"/>
                <a:sym typeface="Arvo"/>
              </a:rPr>
              <a:t>KLEO generates a complete copy with keywords that matter.</a:t>
            </a:r>
            <a:endParaRPr sz="11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234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/>
          <p:nvPr>
            <p:ph type="title"/>
          </p:nvPr>
        </p:nvSpPr>
        <p:spPr>
          <a:xfrm>
            <a:off x="609600" y="458092"/>
            <a:ext cx="7932300" cy="90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E4FA3"/>
                </a:solidFill>
                <a:latin typeface="Arvo"/>
                <a:ea typeface="Arvo"/>
                <a:cs typeface="Arvo"/>
                <a:sym typeface="Arvo"/>
              </a:rPr>
              <a:t>KLEOS </a:t>
            </a:r>
            <a:r>
              <a:rPr lang="en">
                <a:solidFill>
                  <a:srgbClr val="1E4FA3"/>
                </a:solidFill>
                <a:latin typeface="Arvo"/>
                <a:ea typeface="Arvo"/>
                <a:cs typeface="Arvo"/>
                <a:sym typeface="Arvo"/>
              </a:rPr>
              <a:t>creates a sandbox to simulate and test AI visibility improvements.</a:t>
            </a:r>
            <a:endParaRPr>
              <a:solidFill>
                <a:srgbClr val="1E4FA3"/>
              </a:solidFill>
              <a:latin typeface="Arvo"/>
              <a:ea typeface="Arvo"/>
              <a:cs typeface="Arvo"/>
              <a:sym typeface="Arv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E4FA3"/>
              </a:solidFill>
              <a:latin typeface="Arvo"/>
              <a:ea typeface="Arvo"/>
              <a:cs typeface="Arvo"/>
              <a:sym typeface="Ar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225" y="1747575"/>
            <a:ext cx="8167552" cy="25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type="title"/>
          </p:nvPr>
        </p:nvSpPr>
        <p:spPr>
          <a:xfrm>
            <a:off x="609600" y="469156"/>
            <a:ext cx="79248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rPr>
              <a:t>KLEOS</a:t>
            </a:r>
            <a:r>
              <a:rPr lang="en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rPr>
              <a:t> tracks the metrics over time.</a:t>
            </a:r>
            <a:endParaRPr>
              <a:solidFill>
                <a:schemeClr val="lt1"/>
              </a:solidFill>
              <a:latin typeface="Arvo"/>
              <a:ea typeface="Arvo"/>
              <a:cs typeface="Arvo"/>
              <a:sym typeface="Ar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125" y="1264656"/>
            <a:ext cx="6325745" cy="3589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afé Athena AI Search Visibility">
  <a:themeElements>
    <a:clrScheme name="Café Athena AI Search Visibility">
      <a:dk1>
        <a:srgbClr val="1B2340"/>
      </a:dk1>
      <a:lt1>
        <a:srgbClr val="F7F4EE"/>
      </a:lt1>
      <a:dk2>
        <a:srgbClr val="52576C"/>
      </a:dk2>
      <a:lt2>
        <a:srgbClr val="E1DFDD"/>
      </a:lt2>
      <a:accent1>
        <a:srgbClr val="1E4FA3"/>
      </a:accent1>
      <a:accent2>
        <a:srgbClr val="B9C0D4"/>
      </a:accent2>
      <a:accent3>
        <a:srgbClr val="4A5170"/>
      </a:accent3>
      <a:accent4>
        <a:srgbClr val="9AA0A6"/>
      </a:accent4>
      <a:accent5>
        <a:srgbClr val="737786"/>
      </a:accent5>
      <a:accent6>
        <a:srgbClr val="9496A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